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D7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2286000"/>
            <a:ext cx="6400800" cy="6400800"/>
          </a:xfrm>
          <a:prstGeom prst="ellipse">
            <a:avLst/>
          </a:prstGeom>
          <a:solidFill>
            <a:srgbClr val="1E3A7B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-914400"/>
            <a:ext cx="3657600" cy="365760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PRESENTATION  ·  2026.06.22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HADO Smart Court IoT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C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player tracking, tactical guidance,
</a:t>
            </a:r>
            <a:pPr indent="0" marL="0">
              <a:buNone/>
            </a:pPr>
            <a:r>
              <a:rPr lang="en-US" sz="2200" dirty="0">
                <a:solidFill>
                  <a:srgbClr val="E8EC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 </a:t>
            </a:r>
            <a:pPr indent="0" marL="0">
              <a:buNone/>
            </a:pPr>
            <a:r>
              <a:rPr lang="en-US" sz="2200" b="1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17-keypoint action recognition</a:t>
            </a:r>
            <a:pPr indent="0" marL="0">
              <a:buNone/>
            </a:pPr>
            <a:r>
              <a:rPr lang="en-US" sz="2200" dirty="0">
                <a:solidFill>
                  <a:srgbClr val="E8EC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on Raspberry Pi 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5120640"/>
            <a:ext cx="2286000" cy="0"/>
          </a:xfrm>
          <a:prstGeom prst="line">
            <a:avLst/>
          </a:prstGeom>
          <a:noFill/>
          <a:ln w="25400">
            <a:solidFill>
              <a:srgbClr val="00C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303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Jinwoo Park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715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lead  ·  HADO Smart Court IoT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 · 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game is real-time. The analysis is not.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HADO is an AR sport </a:t>
            </a:r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played 3 vs 3 on a 10 × 6 m indoor court.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Coaches review footage </a:t>
            </a:r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after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 match — by then the moment is gone.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question: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73152" cy="2011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02336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 we deliver tactical feedback </a:t>
            </a:r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 it happens</a:t>
            </a:r>
            <a:pPr indent="0" marL="0">
              <a:buNone/>
            </a:pPr>
            <a:r>
              <a:rPr lang="en-US" sz="2200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with just </a:t>
            </a:r>
            <a:pPr indent="0" marL="0">
              <a:buNone/>
            </a:pPr>
            <a:r>
              <a:rPr lang="en-US" sz="22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single camera</a:t>
            </a:r>
            <a:pPr indent="0" marL="0">
              <a:buNone/>
            </a:pPr>
            <a:r>
              <a:rPr lang="en-US" sz="2200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and a </a:t>
            </a:r>
            <a:pPr indent="0" marL="0">
              <a:buNone/>
            </a:pPr>
            <a:r>
              <a:rPr lang="en-US" sz="22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Raspberry Pi</a:t>
            </a:r>
            <a:pPr indent="0" marL="0">
              <a:buNone/>
            </a:pPr>
            <a:r>
              <a:rPr lang="en-US" sz="2200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46634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8745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× 6 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22376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COURT  ·  INDOOR AR ARENA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3291840"/>
            <a:ext cx="46634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34290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vs 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22376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PLAYERS  ·  HEADSET-WORN 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4846320"/>
            <a:ext cx="46634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4983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 200 ms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223760" y="5760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FEEDBACK LATENCY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HADO Smart Court IoT  ·  Final Presentation  ·  Jinwoo Park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 · 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 camera → Pi 4 → three-level inference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16459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286000"/>
            <a:ext cx="1645920" cy="164592"/>
          </a:xfrm>
          <a:prstGeom prst="rect">
            <a:avLst/>
          </a:prstGeom>
          <a:solidFill>
            <a:srgbClr val="1E3A7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Camera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USB / HDMI capture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67128" y="3017520"/>
            <a:ext cx="128016" cy="0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13432" y="2286000"/>
            <a:ext cx="16459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13432" y="2286000"/>
            <a:ext cx="1645920" cy="164592"/>
          </a:xfrm>
          <a:prstGeom prst="rect">
            <a:avLst/>
          </a:prstGeom>
          <a:solidFill>
            <a:srgbClr val="1E3A7B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50592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src/camera.py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77640" y="3017520"/>
            <a:ext cx="128016" cy="0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23944" y="2286000"/>
            <a:ext cx="16459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23944" y="2286000"/>
            <a:ext cx="1645920" cy="164592"/>
          </a:xfrm>
          <a:prstGeom prst="rect">
            <a:avLst/>
          </a:prstGeom>
          <a:solidFill>
            <a:srgbClr val="00C2D7"/>
          </a:solidFill>
          <a:ln/>
        </p:spPr>
      </p:sp>
      <p:sp>
        <p:nvSpPr>
          <p:cNvPr id="16" name="Text 14"/>
          <p:cNvSpPr/>
          <p:nvPr/>
        </p:nvSpPr>
        <p:spPr>
          <a:xfrm>
            <a:off x="4261104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Detector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61104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YOLOv8n-pose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88152" y="3017520"/>
            <a:ext cx="128016" cy="0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34456" y="2286000"/>
            <a:ext cx="16459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34456" y="2286000"/>
            <a:ext cx="1645920" cy="164592"/>
          </a:xfrm>
          <a:prstGeom prst="rect">
            <a:avLst/>
          </a:prstGeom>
          <a:solidFill>
            <a:srgbClr val="00C2D7"/>
          </a:solidFill>
          <a:ln/>
        </p:spPr>
      </p:sp>
      <p:sp>
        <p:nvSpPr>
          <p:cNvPr id="21" name="Text 19"/>
          <p:cNvSpPr/>
          <p:nvPr/>
        </p:nvSpPr>
        <p:spPr>
          <a:xfrm>
            <a:off x="6071616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Tracker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71616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IoU + ID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98664" y="3017520"/>
            <a:ext cx="128016" cy="0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44968" y="2286000"/>
            <a:ext cx="16459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44968" y="2286000"/>
            <a:ext cx="1645920" cy="164592"/>
          </a:xfrm>
          <a:prstGeom prst="rect">
            <a:avLst/>
          </a:prstGeom>
          <a:solidFill>
            <a:srgbClr val="00C2D7"/>
          </a:solidFill>
          <a:ln/>
        </p:spPr>
      </p:sp>
      <p:sp>
        <p:nvSpPr>
          <p:cNvPr id="26" name="Text 24"/>
          <p:cNvSpPr/>
          <p:nvPr/>
        </p:nvSpPr>
        <p:spPr>
          <a:xfrm>
            <a:off x="7882128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Homography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82128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px → court 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09176" y="3017520"/>
            <a:ext cx="128016" cy="0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55480" y="2286000"/>
            <a:ext cx="16459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55480" y="2286000"/>
            <a:ext cx="1645920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9692640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9264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see below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37490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1E3A7B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63040" y="4617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Bird-eye tracking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2960" y="5303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player positions on a 10×6 m court map.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26280" y="4297680"/>
            <a:ext cx="37490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4617720"/>
            <a:ext cx="502920" cy="502920"/>
          </a:xfrm>
          <a:prstGeom prst="ellipse">
            <a:avLst/>
          </a:prstGeom>
          <a:solidFill>
            <a:srgbClr val="00C2D7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40680" y="4617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Tactical engine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800600" y="5303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Six rules (R1–R6) → arrow + voice guidance.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503920" y="4297680"/>
            <a:ext cx="37490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0" y="461772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5" name="Text 43"/>
          <p:cNvSpPr/>
          <p:nvPr/>
        </p:nvSpPr>
        <p:spPr>
          <a:xfrm>
            <a:off x="87782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L3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418320" y="4617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Action recognition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778240" y="5303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 keypoints → 7 actions → next-action recommendation.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HADO Smart Court IoT  ·  Final Presentation  ·  Jinwoo Park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9728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 ·  HARDWARE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Edge hardware: $80 of components, fully offline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09728" cy="4023360"/>
          </a:xfrm>
          <a:prstGeom prst="rect">
            <a:avLst/>
          </a:prstGeom>
          <a:solidFill>
            <a:srgbClr val="1E3A7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Raspberry Pi 4 Model 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Quad-core Cortex-A72 @ 1.5 GHz · 8 GB 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USB 3.0 × 2 · CSI camera port · Gigabit LAN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4526280"/>
            <a:ext cx="2926080" cy="0"/>
          </a:xfrm>
          <a:prstGeom prst="line">
            <a:avLst/>
          </a:prstGeom>
          <a:noFill/>
          <a:ln w="6350">
            <a:solidFill>
              <a:srgbClr val="DF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Edge compute  ·  Pose inference  ·  Logging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36576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828800"/>
            <a:ext cx="109728" cy="4023360"/>
          </a:xfrm>
          <a:prstGeom prst="rect">
            <a:avLst/>
          </a:prstGeom>
          <a:solidFill>
            <a:srgbClr val="00C2D7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Camera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3108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Arducam IMX519 16 MP CSI  /  GoPro · Sony via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HDMI → USB 3.0 capture board (UVC, 1080p60)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4526280"/>
            <a:ext cx="2926080" cy="0"/>
          </a:xfrm>
          <a:prstGeom prst="line">
            <a:avLst/>
          </a:prstGeom>
          <a:noFill/>
          <a:ln w="6350">
            <a:solidFill>
              <a:srgbClr val="DF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4892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Single-view court capture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0" y="1828800"/>
            <a:ext cx="36576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1828800"/>
            <a:ext cx="109728" cy="40233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7824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778240" y="3108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HDMI display for on-court HUD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pyttsx3 offline TTS (Korean voice)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78240" y="4526280"/>
            <a:ext cx="2926080" cy="0"/>
          </a:xfrm>
          <a:prstGeom prst="line">
            <a:avLst/>
          </a:prstGeom>
          <a:noFill/>
          <a:ln w="6350">
            <a:solidFill>
              <a:srgbClr val="DF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892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visual + voice feedback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Fully offline.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cloud, no internet during operation.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inference, logging, and feedback happen on the Pi.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HADO Smart Court IoT  ·  Final Presentation  ·  Jinwoo Park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1E3A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TRACKING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is each player, frame by frame?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20040" cy="320040"/>
          </a:xfrm>
          <a:prstGeom prst="ellipse">
            <a:avLst/>
          </a:prstGeom>
          <a:solidFill>
            <a:srgbClr val="00C2D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YOLOv8n-pose @ 320 × 320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Bounding box + 17 keypoints per player, single forward pass.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20040" cy="320040"/>
          </a:xfrm>
          <a:prstGeom prst="ellipse">
            <a:avLst/>
          </a:prstGeom>
          <a:solidFill>
            <a:srgbClr val="00C2D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IoU tracker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154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Persistent ID across frames; track buffer 60 frames.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320040" cy="320040"/>
          </a:xfrm>
          <a:prstGeom prst="ellipse">
            <a:avLst/>
          </a:prstGeom>
          <a:solidFill>
            <a:srgbClr val="00C2D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Foot-point homography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0233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Bottom-center of bbox is always on the ground plane → geometrically correct meter coords.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320040" cy="320040"/>
          </a:xfrm>
          <a:prstGeom prst="ellipse">
            <a:avLst/>
          </a:prstGeom>
          <a:solidFill>
            <a:srgbClr val="00C2D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Bird-eye renderer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4892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10 × 6 m court map.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1920240"/>
            <a:ext cx="4572000" cy="4114800"/>
          </a:xfrm>
          <a:prstGeom prst="rect">
            <a:avLst/>
          </a:prstGeom>
          <a:solidFill>
            <a:srgbClr val="0A1A3E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INFERENCE THROUGHPUT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 (development)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0" y="2926080"/>
            <a:ext cx="3840480" cy="320040"/>
          </a:xfrm>
          <a:prstGeom prst="rect">
            <a:avLst/>
          </a:prstGeom>
          <a:solidFill>
            <a:srgbClr val="1E3A7B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0" y="2926080"/>
            <a:ext cx="3840480" cy="320040"/>
          </a:xfrm>
          <a:prstGeom prst="rect">
            <a:avLst/>
          </a:prstGeom>
          <a:solidFill>
            <a:srgbClr val="00C2D7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98 FPS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Raspberry Pi 4 (NCNN, FP16)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0" y="3840480"/>
            <a:ext cx="3840480" cy="320040"/>
          </a:xfrm>
          <a:prstGeom prst="rect">
            <a:avLst/>
          </a:prstGeom>
          <a:solidFill>
            <a:srgbClr val="1E3A7B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0" y="3840480"/>
            <a:ext cx="91440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≥ 15 FPS  ·  target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98080" y="4526280"/>
            <a:ext cx="3840480" cy="0"/>
          </a:xfrm>
          <a:prstGeom prst="line">
            <a:avLst/>
          </a:prstGeom>
          <a:noFill/>
          <a:ln w="6350">
            <a:solidFill>
              <a:srgbClr val="2D4F9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46634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this matters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FPS is the minimum latency floor for tactical relevance — anything slower and the recommendation lags the action.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HADO Smart Court IoT  ·  Final Presentation  ·  Jinwoo Park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0C2D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TACTICAL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Six rules. One urgency arrow per player.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109728" cy="118872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1993392"/>
            <a:ext cx="777240" cy="274320"/>
          </a:xfrm>
          <a:prstGeom prst="rect">
            <a:avLst/>
          </a:prstGeom>
          <a:solidFill>
            <a:srgbClr val="FFB6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Spacing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33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Maintain ≥ 1.5 m from teammates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82880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828800"/>
            <a:ext cx="109728" cy="118872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8040" y="1993392"/>
            <a:ext cx="777240" cy="274320"/>
          </a:xfrm>
          <a:prstGeom prst="rect">
            <a:avLst/>
          </a:prstGeom>
          <a:solidFill>
            <a:srgbClr val="FFB6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Lane cover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2633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Cover open lanes toward goal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82880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828800"/>
            <a:ext cx="109728" cy="1188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64240" y="1993392"/>
            <a:ext cx="777240" cy="27432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953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Counter threat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95360" y="2633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Block fast-approaching opponent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246120"/>
            <a:ext cx="109728" cy="118872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91840" y="3410712"/>
            <a:ext cx="777240" cy="274320"/>
          </a:xfrm>
          <a:prstGeom prst="rect">
            <a:avLst/>
          </a:prstGeom>
          <a:solidFill>
            <a:srgbClr val="FFB6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Gap attack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050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Exploit unguarded opponent zones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34840" y="324612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34840" y="3246120"/>
            <a:ext cx="109728" cy="1188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3410712"/>
            <a:ext cx="777240" cy="27432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Backline defense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09160" y="4050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 one player near goal area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321040" y="324612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3246120"/>
            <a:ext cx="109728" cy="118872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8" name="Text 36"/>
          <p:cNvSpPr/>
          <p:nvPr/>
        </p:nvSpPr>
        <p:spPr>
          <a:xfrm>
            <a:off x="859536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64240" y="3410712"/>
            <a:ext cx="777240" cy="274320"/>
          </a:xfrm>
          <a:prstGeom prst="rect">
            <a:avLst/>
          </a:prstGeom>
          <a:solidFill>
            <a:srgbClr val="FFB6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9536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595360" y="4050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Maintain triangle / staggered shape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0A1A3E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RULES, NOT ML?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" y="56509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Interpretability  </a:t>
            </a:r>
            <a:pPr indent="0" marL="0">
              <a:buNone/>
            </a:pPr>
            <a:r>
              <a:rPr lang="en-US" sz="1200" dirty="0">
                <a:solidFill>
                  <a:srgbClr val="E8EC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every arrow ships with the rule that fired it.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labeled data  </a:t>
            </a:r>
            <a:pPr indent="0" marL="0">
              <a:buNone/>
            </a:pPr>
            <a:r>
              <a:rPr lang="en-US" sz="1200" dirty="0">
                <a:solidFill>
                  <a:srgbClr val="E8EC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this rule engine </a:t>
            </a:r>
            <a:pPr indent="0" marL="0">
              <a:buNone/>
            </a:pPr>
            <a:r>
              <a:rPr lang="en-US" sz="1200" i="1" dirty="0">
                <a:solidFill>
                  <a:srgbClr val="E8EC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</a:t>
            </a:r>
            <a:pPr indent="0" marL="0">
              <a:buNone/>
            </a:pPr>
            <a:r>
              <a:rPr lang="en-US" sz="1200" dirty="0">
                <a:solidFill>
                  <a:srgbClr val="E8EC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the data collection tool for future ML work.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HADO Smart Court IoT  ·  Final Presentation  ·  Jinwoo Park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ACTION RECOGNITION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 keypoints → what the player is doing — at any camera distance.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7490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 COCO KEYPOINTS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7400" y="22402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2880360"/>
            <a:ext cx="201168" cy="201168"/>
          </a:xfrm>
          <a:prstGeom prst="ellipse">
            <a:avLst/>
          </a:prstGeom>
          <a:solidFill>
            <a:srgbClr val="00C2D7"/>
          </a:solidFill>
          <a:ln/>
        </p:spPr>
      </p:sp>
      <p:sp>
        <p:nvSpPr>
          <p:cNvPr id="10" name="Shape 8"/>
          <p:cNvSpPr/>
          <p:nvPr/>
        </p:nvSpPr>
        <p:spPr>
          <a:xfrm>
            <a:off x="2953512" y="2880360"/>
            <a:ext cx="201168" cy="201168"/>
          </a:xfrm>
          <a:prstGeom prst="ellipse">
            <a:avLst/>
          </a:prstGeom>
          <a:solidFill>
            <a:srgbClr val="00C2D7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3657600"/>
            <a:ext cx="182880" cy="182880"/>
          </a:xfrm>
          <a:prstGeom prst="ellipse">
            <a:avLst/>
          </a:prstGeom>
          <a:solidFill>
            <a:srgbClr val="00C2D7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3657600"/>
            <a:ext cx="182880" cy="182880"/>
          </a:xfrm>
          <a:prstGeom prst="ellipse">
            <a:avLst/>
          </a:prstGeom>
          <a:solidFill>
            <a:srgbClr val="00C2D7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343400"/>
            <a:ext cx="182880" cy="182880"/>
          </a:xfrm>
          <a:prstGeom prst="ellipse">
            <a:avLst/>
          </a:prstGeom>
          <a:solidFill>
            <a:srgbClr val="00C2D7"/>
          </a:solidFill>
          <a:ln/>
        </p:spPr>
      </p:sp>
      <p:sp>
        <p:nvSpPr>
          <p:cNvPr id="14" name="Shape 12"/>
          <p:cNvSpPr/>
          <p:nvPr/>
        </p:nvSpPr>
        <p:spPr>
          <a:xfrm>
            <a:off x="3611880" y="4343400"/>
            <a:ext cx="182880" cy="182880"/>
          </a:xfrm>
          <a:prstGeom prst="ellipse">
            <a:avLst/>
          </a:prstGeom>
          <a:solidFill>
            <a:srgbClr val="00C2D7"/>
          </a:solidFill>
          <a:ln/>
        </p:spPr>
      </p:sp>
      <p:sp>
        <p:nvSpPr>
          <p:cNvPr id="15" name="Shape 13"/>
          <p:cNvSpPr/>
          <p:nvPr/>
        </p:nvSpPr>
        <p:spPr>
          <a:xfrm>
            <a:off x="1783080" y="4297680"/>
            <a:ext cx="201168" cy="201168"/>
          </a:xfrm>
          <a:prstGeom prst="ellipse">
            <a:avLst/>
          </a:prstGeom>
          <a:solidFill>
            <a:srgbClr val="1E3A7B"/>
          </a:solidFill>
          <a:ln/>
        </p:spPr>
      </p:sp>
      <p:sp>
        <p:nvSpPr>
          <p:cNvPr id="16" name="Shape 14"/>
          <p:cNvSpPr/>
          <p:nvPr/>
        </p:nvSpPr>
        <p:spPr>
          <a:xfrm>
            <a:off x="2587752" y="4297680"/>
            <a:ext cx="201168" cy="201168"/>
          </a:xfrm>
          <a:prstGeom prst="ellipse">
            <a:avLst/>
          </a:prstGeom>
          <a:solidFill>
            <a:srgbClr val="1E3A7B"/>
          </a:solidFill>
          <a:ln/>
        </p:spPr>
      </p:sp>
      <p:sp>
        <p:nvSpPr>
          <p:cNvPr id="17" name="Shape 15"/>
          <p:cNvSpPr/>
          <p:nvPr/>
        </p:nvSpPr>
        <p:spPr>
          <a:xfrm>
            <a:off x="1645920" y="5120640"/>
            <a:ext cx="182880" cy="182880"/>
          </a:xfrm>
          <a:prstGeom prst="ellipse">
            <a:avLst/>
          </a:prstGeom>
          <a:solidFill>
            <a:srgbClr val="1E3A7B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5120640"/>
            <a:ext cx="182880" cy="182880"/>
          </a:xfrm>
          <a:prstGeom prst="ellipse">
            <a:avLst/>
          </a:prstGeom>
          <a:solidFill>
            <a:srgbClr val="1E3A7B"/>
          </a:solidFill>
          <a:ln/>
        </p:spPr>
      </p:sp>
      <p:sp>
        <p:nvSpPr>
          <p:cNvPr id="19" name="Shape 17"/>
          <p:cNvSpPr/>
          <p:nvPr/>
        </p:nvSpPr>
        <p:spPr>
          <a:xfrm>
            <a:off x="1508760" y="5897880"/>
            <a:ext cx="182880" cy="182880"/>
          </a:xfrm>
          <a:prstGeom prst="ellipse">
            <a:avLst/>
          </a:prstGeom>
          <a:solidFill>
            <a:srgbClr val="1E3A7B"/>
          </a:solidFill>
          <a:ln/>
        </p:spPr>
      </p:sp>
      <p:sp>
        <p:nvSpPr>
          <p:cNvPr id="20" name="Shape 18"/>
          <p:cNvSpPr/>
          <p:nvPr/>
        </p:nvSpPr>
        <p:spPr>
          <a:xfrm>
            <a:off x="2880360" y="5897880"/>
            <a:ext cx="182880" cy="182880"/>
          </a:xfrm>
          <a:prstGeom prst="ellipse">
            <a:avLst/>
          </a:prstGeom>
          <a:solidFill>
            <a:srgbClr val="1E3A7B"/>
          </a:solidFill>
          <a:ln/>
        </p:spPr>
      </p:sp>
      <p:sp>
        <p:nvSpPr>
          <p:cNvPr id="21" name="Shape 19"/>
          <p:cNvSpPr/>
          <p:nvPr/>
        </p:nvSpPr>
        <p:spPr>
          <a:xfrm>
            <a:off x="2240280" y="2423160"/>
            <a:ext cx="-722376" cy="557784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2423160"/>
            <a:ext cx="722376" cy="557784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17904" y="2980944"/>
            <a:ext cx="1536192" cy="0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17904" y="2980944"/>
            <a:ext cx="-420624" cy="768096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3749040"/>
            <a:ext cx="-228600" cy="685800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54096" y="2980944"/>
            <a:ext cx="420624" cy="768096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3749040"/>
            <a:ext cx="228600" cy="685800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17904" y="2980944"/>
            <a:ext cx="365760" cy="1417320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54096" y="2980944"/>
            <a:ext cx="-365760" cy="1417320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83664" y="4398264"/>
            <a:ext cx="804672" cy="0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83664" y="4398264"/>
            <a:ext cx="-146304" cy="813816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37360" y="5212080"/>
            <a:ext cx="-137160" cy="777240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88336" y="4398264"/>
            <a:ext cx="146304" cy="813816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5212080"/>
            <a:ext cx="137160" cy="777240"/>
          </a:xfrm>
          <a:prstGeom prst="line">
            <a:avLst/>
          </a:prstGeom>
          <a:noFill/>
          <a:ln w="19050">
            <a:solidFill>
              <a:srgbClr val="2D4F9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nose · shoulders · elbows · wrists · hips · knees · ankles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HADO-SPECIFIC ACTIONS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↑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07492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charge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9224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wrist above shoulder, near-vertical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⚡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074920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shoot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92240" y="2487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wrist extended toward opponent side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0" y="28712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🛡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074920" y="28712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shield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92240" y="28712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both wrists wide, above elbows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0" y="3255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←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074920" y="32552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dodge_l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492240" y="32552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shoulder midpoint left of hip midpoint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0" y="36393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074920" y="36393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dodge_r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492240" y="3639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shoulder midpoint right of hip midpoint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0" y="4023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507492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crouch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49224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shoulder–knee vertical compression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0" y="4407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●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5074920" y="44074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ready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492240" y="44074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default (no other rule fires)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0" y="5029200"/>
            <a:ext cx="7040880" cy="1188720"/>
          </a:xfrm>
          <a:prstGeom prst="rect">
            <a:avLst/>
          </a:prstGeom>
          <a:solidFill>
            <a:srgbClr val="0A1A3E"/>
          </a:solidFill>
          <a:ln/>
        </p:spPr>
      </p:sp>
      <p:sp>
        <p:nvSpPr>
          <p:cNvPr id="59" name="Text 57"/>
          <p:cNvSpPr/>
          <p:nvPr/>
        </p:nvSpPr>
        <p:spPr>
          <a:xfrm>
            <a:off x="4846320" y="5166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CAMERA-DISTANCE INVARIANCE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846320" y="5440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scale = max(shoulder_width, torso_height × 0.6, 30 px)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4846320" y="5852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C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action thresholds divide by this scale, so the same logic works at 2 m or 5 m.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HADO Smart Court IoT  ·  Final Presentation  ·  Jinwoo Park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9728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ACTION RECOMMENDATION  ·  NEW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just what you ARE doing — what to do NEXT.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TRANSITION TABLE  ·  NEXT_ACTION_RECS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675120" cy="3200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310896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current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next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reason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priority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charge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shoot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차지 완료 → 발사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3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1.0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charge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dodge_l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발사 포기 → 좌측 회피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0.3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shoot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dodge_r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발사 후 우측 회피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3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0.8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shoot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dodge_l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발사 후 좌측 회피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0.7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shield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charge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방어 해제 → 역공 차지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3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0.9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dodge_l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charge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회피 후 역공 차지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0.8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ready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charge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차지 시작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0.7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828800"/>
            <a:ext cx="42062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0" y="1828800"/>
            <a:ext cx="420624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RECOMMENDATION LOGIC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recommend_next_action(current, history)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138160" y="2880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Look up base recommendations for current action.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13816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same action persisted ≥ 4 frames, boost transition priority ×1.2.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0" y="4389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38160" y="4434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Sort by priority, return top 2.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72400" y="5349240"/>
            <a:ext cx="3657600" cy="0"/>
          </a:xfrm>
          <a:prstGeom prst="line">
            <a:avLst/>
          </a:prstGeom>
          <a:noFill/>
          <a:ln w="6350">
            <a:solidFill>
              <a:srgbClr val="DFE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0" y="5440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 on screen: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recommended next actions with reasons and color-coded icons in the bottom HUD panel.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532120"/>
            <a:ext cx="6675120" cy="685800"/>
          </a:xfrm>
          <a:prstGeom prst="rect">
            <a:avLst/>
          </a:prstGeom>
          <a:solidFill>
            <a:srgbClr val="0A1A3E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623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WHERE to WHAT NEXT.   </a:t>
            </a:r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Court position → individual action → tactical next step. One pipeline, three layers of feedback.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HADO Smart Court IoT  ·  Final Presentation  ·  Jinwoo Park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9728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 ·  EDGE OPTIMIZATION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optimizations to hit 15 FPS on a $35 CPU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657600" cy="109728"/>
          </a:xfrm>
          <a:prstGeom prst="rect">
            <a:avLst/>
          </a:prstGeom>
          <a:solidFill>
            <a:srgbClr val="00C2D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NCNN model format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≈ 3 ×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vs. ONNX on Pi 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4389120"/>
            <a:ext cx="2926080" cy="0"/>
          </a:xfrm>
          <a:prstGeom prst="line">
            <a:avLst/>
          </a:prstGeom>
          <a:noFill/>
          <a:ln w="6350">
            <a:solidFill>
              <a:srgbClr val="DF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ARM-optimized FP16. Native to the Pi CPU — no PyTorch, no TensorRT.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7830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783080"/>
            <a:ext cx="365760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Threaded capture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26974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ms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80060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camera wait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4389120"/>
            <a:ext cx="2926080" cy="0"/>
          </a:xfrm>
          <a:prstGeom prst="line">
            <a:avLst/>
          </a:prstGeom>
          <a:noFill/>
          <a:ln w="6350">
            <a:solidFill>
              <a:srgbClr val="DF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Background thread holds the latest frame. Inference loop never blocks on V4L2 read.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17830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783080"/>
            <a:ext cx="3657600" cy="10972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imgsz = 320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0" y="26974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B6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− 75 %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868680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pixels vs. 640×640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0" y="4389120"/>
            <a:ext cx="2926080" cy="0"/>
          </a:xfrm>
          <a:prstGeom prst="line">
            <a:avLst/>
          </a:prstGeom>
          <a:noFill/>
          <a:ln w="6350">
            <a:solidFill>
              <a:srgbClr val="DFE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 biggest FPS win. 320 is still above the YOLOv8n receptive-field floor for adult bodies.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Combined effect: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full Level 1 + 3 pipeline (detector + tracker + action classifier) runs end-to-end on Pi 4 CPU only.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HADO Smart Court IoT  ·  Final Presentation  ·  Jinwoo Park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 · 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272 unit tests, on-court measurements, rule-level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272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UNIT TESTS PASSING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10712" y="17830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2011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3A7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3593592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MODULES COVERED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72784" y="17830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2011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6455664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ACTION-CLASS TEST SETS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34856" y="17830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17736" y="2011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B6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≤ 10 cm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9317736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POSITION ERROR TARGET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 4 FIELD MEASUREMENTS  ·  W5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64240" cy="18288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743200"/>
                <a:gridCol w="19202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metric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target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Pi 4 measured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status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NCNN inference FPS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≥ 15 fps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[TODO]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pending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ONNX inference FPS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≥ 10 fps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[TODO]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pending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RAM usage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&lt; 1.5 GB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[TODO]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pending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CPU temperature (30 min)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&lt; 70 °C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[TODO]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pending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TTS guidance latency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&lt; 500 ms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[TODO]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pending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6108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[TODO] slots will be populated from this week's on-court session.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HADO Smart Court IoT  ·  Final Presentation  ·  Jinwoo Park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9728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 ·  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 the three levels working together.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315200" cy="4114800"/>
          </a:xfrm>
          <a:prstGeom prst="rect">
            <a:avLst/>
          </a:prstGeom>
          <a:solidFill>
            <a:srgbClr val="1E3A7B"/>
          </a:solidFill>
          <a:ln w="19050">
            <a:solidFill>
              <a:srgbClr val="00C2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3383280"/>
            <a:ext cx="1280160" cy="1280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3383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▶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data/demo_track_a_pivot.mp4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 COMMANDS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1 + 2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21040" y="2423160"/>
            <a:ext cx="3657600" cy="822960"/>
          </a:xfrm>
          <a:prstGeom prst="rect">
            <a:avLst/>
          </a:prstGeom>
          <a:solidFill>
            <a:srgbClr val="1E3A7B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2468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src.main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--level 2 --voice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104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3703320"/>
            <a:ext cx="3657600" cy="822960"/>
          </a:xfrm>
          <a:prstGeom prst="rect">
            <a:avLst/>
          </a:prstGeom>
          <a:solidFill>
            <a:srgbClr val="1E3A7B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3749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src.action_demo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--source 1 --show-kp-ids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 4 (NCNN)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4983480"/>
            <a:ext cx="3657600" cy="822960"/>
          </a:xfrm>
          <a:prstGeom prst="rect">
            <a:avLst/>
          </a:prstGeom>
          <a:solidFill>
            <a:srgbClr val="1E3A7B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5029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./run.sh action_live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--show-kp-ids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HADO Smart Court IoT  ·  Final Presentation  ·  Jinwoo Park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we built — and what comes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Fully offline, single-camera tactical analysis system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786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5786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1 tracking — YOLOv8n-pose + IoU tracker + homography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96265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9626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2 tactical engine — six interpretable rules, voice guidance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467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34670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3 action recognition — 7 actions with scale-normalized classifier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7307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7307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Next-action recommendation — transition table + history weighting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114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 4 NCNN optimization — threaded capture + imgsz 320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988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4988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272 unit tests covering all core modules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2240280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Auto-tune rule thresholds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2560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635 expert-annotated movement records to fit R1–R6 weights instead of hand-coding.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154680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Replace transition table with sequence model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3474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LSTM / small transformer over 30-frame action histories.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069080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Multi-camera occlusion handling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43891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Two-camera Bayesian fusion when players overlap.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4983480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 effect overlay tolerance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0" y="5303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Robustness when HADO virtual projectiles cover the player's body.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HADO Smart Court IoT  ·  Final Presentation  ·  Jinwoo Park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565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2743200"/>
            <a:ext cx="7315200" cy="7315200"/>
          </a:xfrm>
          <a:prstGeom prst="ellipse">
            <a:avLst/>
          </a:prstGeom>
          <a:solidFill>
            <a:srgbClr val="1E3A7B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743200"/>
            <a:ext cx="6400800" cy="6400800"/>
          </a:xfrm>
          <a:prstGeom prst="ellipse">
            <a:avLst/>
          </a:prstGeom>
          <a:solidFill>
            <a:srgbClr val="FF6B35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2D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you.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2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2286000" cy="0"/>
          </a:xfrm>
          <a:prstGeom prst="line">
            <a:avLst/>
          </a:prstGeom>
          <a:noFill/>
          <a:ln w="25400">
            <a:solidFill>
              <a:srgbClr val="00C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Jinwoo Park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github.com/jinwoo04/HADO_SMART_COURT_IOT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806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EC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HADO Smart Court IoT  ·  Final Presentation  ·  2026.06.22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HADO Smart Court IoT — Final Presentation</dc:title>
  <dc:subject>PptxGenJS Presentation</dc:subject>
  <dc:creator>Jinwoo Park</dc:creator>
  <cp:lastModifiedBy>Jinwoo Park</cp:lastModifiedBy>
  <cp:revision>1</cp:revision>
  <dcterms:created xsi:type="dcterms:W3CDTF">2026-06-17T10:53:30Z</dcterms:created>
  <dcterms:modified xsi:type="dcterms:W3CDTF">2026-06-17T10:53:30Z</dcterms:modified>
</cp:coreProperties>
</file>